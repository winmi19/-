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92" r:id="rId8"/>
    <p:sldId id="303" r:id="rId9"/>
    <p:sldId id="298" r:id="rId10"/>
    <p:sldId id="301" r:id="rId11"/>
    <p:sldId id="302" r:id="rId12"/>
    <p:sldId id="296" r:id="rId13"/>
    <p:sldId id="305" r:id="rId14"/>
    <p:sldId id="306" r:id="rId15"/>
    <p:sldId id="304" r:id="rId16"/>
    <p:sldId id="287" r:id="rId17"/>
    <p:sldId id="307" r:id="rId18"/>
    <p:sldId id="308" r:id="rId19"/>
    <p:sldId id="309" r:id="rId20"/>
    <p:sldId id="286" r:id="rId21"/>
    <p:sldId id="310" r:id="rId22"/>
    <p:sldId id="313" r:id="rId23"/>
    <p:sldId id="314" r:id="rId24"/>
    <p:sldId id="288" r:id="rId25"/>
    <p:sldId id="289" r:id="rId26"/>
    <p:sldId id="311" r:id="rId27"/>
    <p:sldId id="312" r:id="rId28"/>
    <p:sldId id="315" r:id="rId29"/>
    <p:sldId id="290" r:id="rId30"/>
    <p:sldId id="316" r:id="rId31"/>
    <p:sldId id="291" r:id="rId32"/>
    <p:sldId id="317" r:id="rId33"/>
    <p:sldId id="318" r:id="rId34"/>
    <p:sldId id="319" r:id="rId35"/>
    <p:sldId id="320" r:id="rId36"/>
    <p:sldId id="321" r:id="rId37"/>
    <p:sldId id="294" r:id="rId38"/>
    <p:sldId id="322" r:id="rId39"/>
    <p:sldId id="323" r:id="rId40"/>
    <p:sldId id="285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8C00-81AC-3B6E-659E-2E673290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E4F7DB-D064-BCFA-2903-D478171150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21217-2E3B-277D-1AE2-2F68DA25B3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FEDFE6-04F4-A499-C5BC-2BE16B049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856EBB-2A6A-1308-20EF-F200CD0E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376B8-C51A-7E90-AA45-749F7E68BB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9D45-5F27-5F5B-8A51-EB4E83982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99953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C7F9-6089-ABA9-3030-DB119E71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E12E9D-AE75-D7D9-7868-7F3CA7B695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2FB07-0440-559C-0BC6-7ECC403F67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63A2A1-0147-8FEA-EBD1-FC1637A54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FBCDF0C-36EE-A877-4188-0CE136B5B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6594-2080-3A82-969F-98DB214237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CB4-7931-1D2A-0A5D-33461BB56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42916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7ABC-861B-30BF-967F-3EBA7538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0CCD69-F994-C413-8547-E1CB9A4F36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B495D-7D1F-1F16-F3FE-FE04266F41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8F6509-697E-4B58-B177-A8276BC93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1DE3BAE-4125-7447-DA05-AB1E02609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2B17B-802C-B936-7A33-D3E5731FC8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BA3FE-B4A8-C9F9-1E51-E75DD2D5A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3130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70FC-446C-D7C9-F014-B5B3BD48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66818D-8AE1-C3F6-C038-8ECF4DD4B5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976A2-374F-33D4-0E53-6C578121DD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9CEF9A-4D3B-088F-2D0E-94C8E97D6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399A82F-C268-3428-8571-331CB44A6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76001-D72E-85F1-0CC1-11C19E7FA3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18F9C-8585-9331-CC0F-5081F01E0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43288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FB33-11FB-5334-6FAF-F6A05F54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40B65-B4A7-FC01-04BC-A3D91179E7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AD353-8F3B-0AA5-B373-025BA631BA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94820EC-8513-5595-6E1B-0B8C421B5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7E48E1-AF85-329F-9882-F6DB66AAA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0BE64-C84E-6804-5402-6ECE8FEEBF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AE7A0-E8D4-B271-014A-84E7D456B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27510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60F4-1685-0296-085D-CB10F792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80111D-82A7-A252-9014-1A5BBFDE43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4512A-4279-AA3B-DF33-4B8531FFB8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5135FB-ABC4-3C3C-7EEB-1A571C360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7388167-8CE2-F281-07F3-82753EBFA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B6CDC-EBCC-2FF8-586E-617F4996C2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6EFB0-B339-2020-1EB5-D856359D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0925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6EF6-33A5-D5B4-1AD9-BD01D7BE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609FAA-5264-2D21-C0C6-B6E6B4EB38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4A2B4-867C-9DD6-4133-80C18E9CF1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FD8E60-3FDA-1B98-E3C0-06C004A15E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154973-269D-F5AD-CFAF-6310A32AB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6F31F-5FE9-1638-FF42-9A685F9811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380F6-050A-C48B-9B6D-C05584757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5686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116B-3B91-B242-B8F4-C4CEE6F8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B1B01C-CA9F-AD41-4030-9136BFAFB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BCC6A-B87C-6419-2507-6A381D09B0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104B603-7DAB-F6AA-2FFA-EB8003BB3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7A978F-152B-0B56-FA82-A6E55E07F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1E28E-88DD-9183-2663-A10F0ABF67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EC5BB-3169-47BE-C3C0-E25F7D2A7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62678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A9F6-D51C-E474-809E-3C2EE53B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30CBED-ED73-97B1-666E-7350686C5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E4199-E23B-244D-7636-297D7181B7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8A7C641-CE84-33B1-580A-65672C09E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4C556A-5CAF-B01F-9CA0-B2DD13EFF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CC01B-BDA6-5249-4310-94243B6D81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7F509-1C31-29F6-7398-FFEBF00E0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7069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4F88-710B-851F-8C7A-86C75FEF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5A38FF-4F8C-7865-05D3-2E25EF7F2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6F201-7AE3-11A9-F6DD-4A6C268387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8182E7-6C3A-6F2D-2E2D-CC19170E3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95DB827-AC82-B342-6EE2-F93891709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F7EDB-14BA-D528-720C-544FAA7190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82E53-CC8D-DA95-48D4-0CF29A053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01260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A0C0-EBE7-C5D7-6F54-5A125D4E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73F8C9-3928-FFA9-5085-1A0D3930BD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58C35-759C-5B7D-05E7-B22AA6167A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14903B-3F9E-4AC1-3637-CE37E71646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B3638A-702C-EC84-4C50-87652966B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441E-8BED-3BB2-D2BF-213131EA33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79FA-49E0-798D-F12B-55FE88C3B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23111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25E0-C1B7-F5C0-BAB3-EE96D3E9C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4D27E0-C941-4112-B7E7-A1E5AAA67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6FFC0-4BA2-4E1C-9CC4-711C446E51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8E9D06-153C-60D2-5652-ABF110229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EB293D-6701-78F1-5FF7-764636A5B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27C50-D4BD-8288-10DD-03493AA40B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9BDD6-3BDC-E63B-2EB3-AD6317EA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26289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B3D4-3189-A302-D372-7ECB06C9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D1CE19-8AE5-FA01-7DD3-59234585A6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A767D-1CE8-FF47-B18A-BA6EF35C331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8557A4-7A7C-C03D-3158-B379294E4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0FCE5E-ED38-0D48-0EBE-E78B83DF4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2B8B6-0A91-0CE6-4648-BC882F1B35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8901-F919-6B72-555F-5177CAA4D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11408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3808-CA61-5E1C-F7AD-BC2B5D3B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0249CF-0C1B-3F56-0DC8-C2546330A3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E2958-2E22-6E86-CBEE-B1DB7852A93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6F108D-8081-BFC4-747D-78C6F3711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5304CA-A0F4-51B4-2B2D-062126DFC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01910-C205-E0EF-6A3D-EF2DEC4BA8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1BBF1-56F5-ABC1-1D82-90DD97D7B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9973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249A-50E7-102E-58FA-36E59FAF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5FE6B6-431F-2141-2296-3BB60B437F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EB3CF7-FB4B-50BF-5E5F-991D335095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515541-4D53-9A59-362C-0B1D4A81A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ED5E77-26C9-4391-7367-9A9EB08F0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DCC96-753E-686C-359B-0A4E372176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5B99-0CC9-5A43-C360-75F56DD16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34657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6383-76B0-7BF6-3EC9-DB072C5A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206BB9-265A-2F26-8547-8F23159FD9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49006-C4BF-79A1-FCA7-FE8012EA8C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2F9B50-9AE2-F4A2-1FAB-17FC755BF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F6EEDF-76C1-F7C0-0BC5-BC107F36D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FF751-3D7E-26B9-0EDA-CA269B3998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8B909-2696-6CD1-9E0B-35BC8EB40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8621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A72D-5EFD-66C9-8075-20D75C4A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AD7CF3-8388-7FFB-4AC4-490063B7B9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E7F1F-8C47-D2B5-9247-B214519DB44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33F997D-F7CE-47D8-3964-B30D43AF5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5829E1-68AC-1C29-EB7A-6E6231F11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48E81-1564-264C-31D5-8669DA532D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FB015-6429-70B9-3117-54EA95496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43252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E527-EE0B-E340-1A0F-7F9D5581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E98187-F1B4-6C03-A5A9-C68F58171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A6B2E-ADEF-799D-B699-EFBF7A0328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3F90161-AFF6-6950-68D3-DD018E739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728A87-CDD3-9321-0A2F-662DA7AF0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6C8C5-FEBB-0C91-859C-754B4EF696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B5EE1-7488-94B8-794A-89AD4F85D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7199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AE6-0048-0362-A349-666F05E2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BA2668-7ECB-F810-0B90-C65CC749A8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F6260-690E-C18B-A6C1-8765B03AF7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D487DD-409F-7DC1-ECB5-B834DD422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6C5B3E6-9732-F8D2-9F34-EDE25B151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50824-A479-29FD-61A8-08AC79F764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C9EDB-4D39-BBFB-E0C8-8BF1AAD58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16974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0E6A-7DF2-8E5D-32B9-1DBB74E5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974690-DFA0-9662-CFD4-8ADC688DA8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1816C-E4F1-912B-6423-2D4164F621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645327-3021-04AF-8909-A40E7D15F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3BCF5EC-A104-7C05-996B-E4016D868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217BC-625A-3831-8AF4-493ED5E2B3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377C8-D4F0-B65A-ECD7-B05D29A67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81251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A874-ABCD-EE78-7738-1EC783B4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F8BFA0-90FD-EF9A-F56D-23B5990105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D120A-B5E0-D395-FF63-B17A28D9E0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C09D44C-FD95-3284-F7A3-19ED53DCB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857D3F1-58ED-1DE3-3726-7CEF87726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8A5D7-DFF9-C318-BD0C-5C6B8FF23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9EA63-6511-A5ED-952F-4EC9E5535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50211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8AAC-0DE8-6E39-663E-7A0CBA9B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7999D9-0A80-E471-BD42-71545BBBD2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C51B0-4515-2F09-9D0E-8AEF129DD31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69F147-FBB5-2B7A-9E51-59276FAA0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3389FA-0F50-E64D-45C8-FEA78C7B4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D01AB-BD14-7F42-7EC1-5FD573483E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C07F7-FC4E-6065-7B83-9A16B29EF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17726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77DF-3AE7-5304-5881-83B237B5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4178D7-7BF7-9F2C-DA04-128A85C5A0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CEF09-3992-521C-98A5-B1F506F292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56E2FA-BD04-084D-A05B-2124D41A3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EF80E9-7947-7D2D-294A-03253B891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A816C-F037-3BD1-38DE-D04690B137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58AB5-AEB9-5FC2-0B94-EDBFFE063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190822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1B9A-0216-3465-238A-868792E2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87F515-0056-A166-92A5-DE89E250DD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6A4FC-4660-D809-9818-457BCB241A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5DF62A2-8F31-A4DE-C119-D80F7AB3B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7D4186E-0CF7-FB76-2AF7-45F6D7481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FB939-BA48-9085-C713-6C1418ABC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E9BBC-2325-52F7-3FA7-DD9E9FFDC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608864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E166-FDF6-3A5B-1985-6F95228B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2C276-416E-C510-17A6-68A31D6BE2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6D23B-7629-DF29-8546-B554DA172D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653DDD-2B1C-2207-1948-922CAABF5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94BB3E-4471-DEBB-A30C-A8542700A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D74A3-8A36-17FB-4C5B-443D38D4BA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437D6-53EC-00BB-1F75-A03FE6BDB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274592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ACD6-F383-8069-2C23-2092A5C8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AB6A84-10BE-032A-8EF3-FD34178B6F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8BDD2-6CBA-DAAD-A124-D1230C7B24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B40EEAF-5E51-CC8F-2C9E-52F5E45A4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533402-F400-78E6-2950-44518E4AC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386E2-ECF1-EE77-F703-C9BC37AF5D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B6F51-488C-4B66-62BC-CF8C62D8F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07790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66A4-BDDB-CA7A-07BC-4DE20271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533D7F-E1BC-6594-B404-489F8BF706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C8959-9DF0-EEDA-0F16-8098C341DE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A8CA4CA-0966-9066-ADED-9EA36FB16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891149-EFAE-479E-BACC-590F27B94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0F57-2560-1E70-BE56-09AE4983FA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8E463-B332-AFC3-7BFA-0E4CD016C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561114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1EA8-5E03-0300-5893-F51E64D0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44B1CE-CA9D-8AB1-88F3-53276F13F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77DDA-3683-4FD6-4C65-7AFE9FBF7E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786620-1BFA-212B-9995-F143C6D3D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C1C3B2-0A0F-16D1-7160-1A320D432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DA8AF-7296-DA26-F0E8-1823D1C0E0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4ED4D-FA1F-9846-905B-3ADF0E86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9688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9BF1-D7F4-D544-4B92-303F6007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917A43-14B0-1274-525B-569DB6F8FF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35579-82F5-3457-4E64-F1F82129E0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0F9ED8D-53B2-C1F5-3D57-77758A024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DFAFE0E-9832-8749-B7F1-FF7149CDF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F23AD-7AD2-1821-1BE5-CF3C30A502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BA03F-87AE-EAF4-7204-C4889DBA7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728196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F2F18-27D2-1D0C-CDDA-89B2BC2F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BA3B6F-D97D-76BB-24D9-F4B0BF7EC7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15571-C3D9-B9FC-775F-EF4C2E0B39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B55D77-AEDA-8FF6-5689-D5AA32C35C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4FC95D-EE23-7C73-804E-52C81285D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9A00A-46B5-1AEE-A6B1-0E7AC83246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1E16-F9B8-A27E-2FC8-67F449AC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385609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EE78-44FC-A3A9-209B-8475DE7E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928B4F-65C5-0CFB-A6E0-9A73DFC50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5C4FF-9433-6754-2F71-F64E45FE7B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3AFBD09-BFAF-493D-269E-67B352037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A0747A-D053-0F13-41EA-23B4AA2B3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36F4F-EBE1-FF4E-B023-883053A524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65461-561D-C26A-ECF5-5116E840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569409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8170-E21E-D6A9-A393-ABB08174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1B2815-9ACC-D562-322A-C8AF3FAB7B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98759-D2E5-F03D-247F-5930839632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030AC1-35BA-850B-A3F1-0F5AAD27E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F85143-14EB-917D-50C4-A0A20D3B7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DEDA8-4731-BD8C-CA70-99C40F7F97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A9ABA-2412-F54E-75ED-54346E9B5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753254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677C-BDE6-8883-8327-594858DE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6B4872-1FC0-BC0B-2B8D-2A0B376A9D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F637D-C95C-2290-6CB8-D4A561DEA5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80B720-2D78-2407-58D1-65A55A63E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5323583-110C-B5C3-0133-DFECCFA52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DE97C-65A4-5F03-DCD6-7CD77D176D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0EC97-0871-807E-B881-64CA9B07E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527188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2945985" y="733864"/>
            <a:ext cx="5257800" cy="812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本课时内容速递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/>
          </p:nvPr>
        </p:nvSpPr>
        <p:spPr>
          <a:xfrm>
            <a:off x="1648023" y="1600200"/>
            <a:ext cx="8895954" cy="3657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4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6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9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3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4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9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20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21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23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4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5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6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7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8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9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30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31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32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3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4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6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7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8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9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40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41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2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3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4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5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6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7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9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0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1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2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3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4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5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6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57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8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9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60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61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62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63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64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5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66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7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8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69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0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1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2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73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74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5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6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7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8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79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80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81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2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83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84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85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86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7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88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89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90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91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92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93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94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5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96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97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98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99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00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01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02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03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04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05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06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07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8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9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eetcode.cn/problems/li-wu-de-zui-da-jie-zhi-lcof/description/" TargetMode="External"/><Relationship Id="rId3" Type="http://schemas.openxmlformats.org/officeDocument/2006/relationships/hyperlink" Target="https://leetcode.cn/problems/climbing-stairs/description/" TargetMode="External"/><Relationship Id="rId7" Type="http://schemas.openxmlformats.org/officeDocument/2006/relationships/hyperlink" Target="https://leetcode.cn/problems/coin-change-ii/description/?envType=featured-list&amp;envId=OZhLbgFT?envType=featured-list&amp;envId=OZhLbgF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leetcode.cn/problems/length-of-the-longest-subsequence-that-sums-to-target/description/?envType=featured-list&amp;envId=OZhLbgFT?envType=featured-list&amp;envId=OZhLbgFT" TargetMode="External"/><Relationship Id="rId5" Type="http://schemas.openxmlformats.org/officeDocument/2006/relationships/hyperlink" Target="https://www.luogu.com.cn/problem/P1048" TargetMode="External"/><Relationship Id="rId4" Type="http://schemas.openxmlformats.org/officeDocument/2006/relationships/hyperlink" Target="https://leetcode.cn/problems/house-robber/descriptio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discuss/post/3581838/fen-xiang-gun-ti-dan-dong-tai-gui-hua-ru-007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limbing-stairs/descrip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limbing-stairs/descrip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limbing-stairs/descrip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limbing-stairs/descrip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limbing-stairs/descrip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house-robber/descripti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house-robber/descripti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house-robber/descriptio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com.cn/problem/P1048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com.cn/problem/P1048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ydro.ac/d/nnu_contest/p/LC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ydro.ac/d/nnu_contest/p/LC1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length-of-the-longest-subsequence-that-sums-to-target/description/?envType=featured-list&amp;envId=OZhLbgFT?envType=featured-list&amp;envId=OZhLbgF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length-of-the-longest-subsequence-that-sums-to-target/description/?envType=featured-list&amp;envId=OZhLbgFT?envType=featured-list&amp;envId=OZhLbgF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qiao.cn/problems/2945/learning/?page=1&amp;first_category_id=1&amp;problem_id=2945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qiao.cn/problems/2945/learning/?page=1&amp;first_category_id=1&amp;problem_id=2945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oin-change-ii/description/?envType=featured-list&amp;envId=OZhLbgFT?envType=featured-list&amp;envId=OZhLbgFT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oin-change-ii/description/?envType=featured-list&amp;envId=OZhLbgFT?envType=featured-list&amp;envId=OZhLbgF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coin-change-ii/description/?envType=featured-list&amp;envId=OZhLbgFT?envType=featured-list&amp;envId=OZhLbgF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li-wu-de-zui-da-jie-zhi-lcof/description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li-wu-de-zui-da-jie-zhi-lcof/description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roblems/minimum-path-sum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403418" y="964010"/>
            <a:ext cx="6121400" cy="2628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蓝桥杯16届Python冲刺课：课时8</a:t>
            </a:r>
            <a:endParaRPr lang="en-US" sz="1100" dirty="0">
              <a:ea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4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动态规划</a:t>
            </a:r>
            <a:endParaRPr lang="en-US" sz="46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"/>
    </mc:Choice>
    <mc:Fallback xmlns="">
      <p:transition spd="slow" advTm="45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7540" y="2658836"/>
            <a:ext cx="100711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4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蓝桥杯16届Python冲刺课：课时8</a:t>
            </a:r>
            <a:endParaRPr lang="en-US" altLang="zh-CN" sz="1100" dirty="0">
              <a:ea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4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动态规划</a:t>
            </a:r>
            <a:endParaRPr lang="en-US" altLang="zh-CN" sz="46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582107" y="895612"/>
            <a:ext cx="8890000" cy="59623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2400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刷题指南</a:t>
            </a:r>
            <a:endParaRPr lang="en-US" altLang="zh-CN" sz="2400" dirty="0">
              <a:solidFill>
                <a:srgbClr val="1F2329"/>
              </a:solidFill>
              <a:ea typeface="Noto Sans SC"/>
              <a:cs typeface="Noto Sans SC"/>
              <a:sym typeface="Noto Sans SC"/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400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：爬楼梯 </a:t>
            </a:r>
            <a:r>
              <a:rPr lang="en-US" altLang="zh-CN" sz="2400" dirty="0">
                <a:hlinkClick r:id="rId3"/>
              </a:rPr>
              <a:t>70. </a:t>
            </a:r>
            <a:r>
              <a:rPr lang="zh-CN" altLang="en-US" sz="2400" dirty="0">
                <a:hlinkClick r:id="rId3"/>
              </a:rPr>
              <a:t>爬楼梯 </a:t>
            </a:r>
            <a:r>
              <a:rPr lang="en-US" altLang="zh-CN" sz="2400" dirty="0">
                <a:hlinkClick r:id="rId3"/>
              </a:rPr>
              <a:t>- </a:t>
            </a:r>
            <a:r>
              <a:rPr lang="zh-CN" altLang="en-US" sz="2400" dirty="0">
                <a:hlinkClick r:id="rId3"/>
              </a:rPr>
              <a:t>力扣（</a:t>
            </a:r>
            <a:r>
              <a:rPr lang="en-US" altLang="zh-CN" sz="2400" dirty="0" err="1">
                <a:hlinkClick r:id="rId3"/>
              </a:rPr>
              <a:t>LeetCode</a:t>
            </a:r>
            <a:r>
              <a:rPr lang="zh-CN" altLang="en-US" sz="2400" dirty="0">
                <a:hlinkClick r:id="rId3"/>
              </a:rPr>
              <a:t>）</a:t>
            </a:r>
            <a:endParaRPr lang="en-US" altLang="zh-CN" sz="2400" dirty="0"/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400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2400" dirty="0">
                <a:hlinkClick r:id="rId4"/>
              </a:rPr>
              <a:t>198. </a:t>
            </a:r>
            <a:r>
              <a:rPr lang="zh-CN" altLang="en-US" sz="2400" dirty="0">
                <a:hlinkClick r:id="rId4"/>
              </a:rPr>
              <a:t>打家劫舍 </a:t>
            </a:r>
            <a:r>
              <a:rPr lang="en-US" altLang="zh-CN" sz="2400" dirty="0">
                <a:hlinkClick r:id="rId4"/>
              </a:rPr>
              <a:t>- </a:t>
            </a:r>
            <a:r>
              <a:rPr lang="zh-CN" altLang="en-US" sz="2400" dirty="0">
                <a:hlinkClick r:id="rId4"/>
              </a:rPr>
              <a:t>力扣（</a:t>
            </a:r>
            <a:r>
              <a:rPr lang="en-US" altLang="zh-CN" sz="2400" dirty="0" err="1">
                <a:hlinkClick r:id="rId4"/>
              </a:rPr>
              <a:t>LeetCode</a:t>
            </a:r>
            <a:r>
              <a:rPr lang="zh-CN" altLang="en-US" sz="2400" dirty="0">
                <a:hlinkClick r:id="rId4"/>
              </a:rPr>
              <a:t>）</a:t>
            </a:r>
            <a:endParaRPr lang="en-US" altLang="zh-CN" sz="2400" dirty="0">
              <a:solidFill>
                <a:srgbClr val="1F2329"/>
              </a:solidFill>
              <a:ea typeface="Noto Sans SC"/>
              <a:cs typeface="Noto Sans SC"/>
              <a:sym typeface="Noto Sans SC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背包</a:t>
            </a:r>
            <a:r>
              <a:rPr lang="en-US" altLang="zh-CN" sz="2400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问题总览</a:t>
            </a:r>
            <a:endParaRPr lang="en-US" altLang="zh-CN" sz="24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en-US" altLang="zh-CN" sz="2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0-1</a:t>
            </a:r>
            <a:r>
              <a:rPr lang="zh-CN" altLang="en-US" sz="2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背包问题 </a:t>
            </a:r>
            <a:r>
              <a:rPr lang="en-US" altLang="zh-CN" sz="2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&amp; </a:t>
            </a:r>
            <a:r>
              <a:rPr lang="zh-CN" altLang="en-US" sz="2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模板题</a:t>
            </a:r>
            <a:r>
              <a:rPr lang="en-US" altLang="zh-CN" sz="2400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2400" dirty="0">
                <a:hlinkClick r:id="rId5"/>
              </a:rPr>
              <a:t>P1048 [NOIP 2005 </a:t>
            </a:r>
            <a:r>
              <a:rPr lang="zh-CN" altLang="en-US" sz="2400" dirty="0">
                <a:hlinkClick r:id="rId5"/>
              </a:rPr>
              <a:t>普及组</a:t>
            </a:r>
            <a:r>
              <a:rPr lang="en-US" altLang="zh-CN" sz="2400" dirty="0">
                <a:hlinkClick r:id="rId5"/>
              </a:rPr>
              <a:t>] </a:t>
            </a:r>
            <a:r>
              <a:rPr lang="zh-CN" altLang="en-US" sz="2400" dirty="0">
                <a:hlinkClick r:id="rId5"/>
              </a:rPr>
              <a:t>采药 </a:t>
            </a:r>
            <a:r>
              <a:rPr lang="en-US" altLang="zh-CN" sz="2400" dirty="0">
                <a:hlinkClick r:id="rId5"/>
              </a:rPr>
              <a:t>- </a:t>
            </a:r>
            <a:r>
              <a:rPr lang="zh-CN" altLang="en-US" sz="2400" dirty="0">
                <a:hlinkClick r:id="rId5"/>
              </a:rPr>
              <a:t>洛谷 </a:t>
            </a:r>
            <a:r>
              <a:rPr lang="en-US" altLang="zh-CN" sz="2400" dirty="0">
                <a:hlinkClick r:id="rId5"/>
              </a:rPr>
              <a:t>(luogu.com.cn)</a:t>
            </a:r>
            <a:endParaRPr lang="en-US" altLang="zh-CN" sz="2400" dirty="0"/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</a:rPr>
              <a:t>*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</a:rPr>
              <a:t>滚动数组优化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400" dirty="0"/>
              <a:t>恰好装满型 </a:t>
            </a:r>
            <a:r>
              <a:rPr lang="en-US" altLang="zh-CN" sz="2400" dirty="0"/>
              <a:t>0 - 1 </a:t>
            </a:r>
            <a:r>
              <a:rPr lang="zh-CN" altLang="en-US" sz="2400" dirty="0"/>
              <a:t>背包 </a:t>
            </a:r>
            <a:r>
              <a:rPr lang="en-US" altLang="zh-CN" sz="2400" dirty="0"/>
              <a:t>&amp; </a:t>
            </a:r>
            <a:r>
              <a:rPr lang="en-US" altLang="zh-CN" sz="2400" dirty="0">
                <a:hlinkClick r:id="rId6"/>
              </a:rPr>
              <a:t>2915. </a:t>
            </a:r>
            <a:r>
              <a:rPr lang="zh-CN" altLang="en-US" sz="2400" dirty="0">
                <a:hlinkClick r:id="rId6"/>
              </a:rPr>
              <a:t>和为目标值的最长子序列的长度 </a:t>
            </a:r>
            <a:r>
              <a:rPr lang="en-US" altLang="zh-CN" sz="2400" dirty="0">
                <a:hlinkClick r:id="rId6"/>
              </a:rPr>
              <a:t>- </a:t>
            </a:r>
            <a:r>
              <a:rPr lang="zh-CN" altLang="en-US" sz="2400" dirty="0">
                <a:hlinkClick r:id="rId6"/>
              </a:rPr>
              <a:t>力扣（</a:t>
            </a:r>
            <a:r>
              <a:rPr lang="en-US" altLang="zh-CN" sz="2400" dirty="0" err="1">
                <a:hlinkClick r:id="rId6"/>
              </a:rPr>
              <a:t>LeetCode</a:t>
            </a:r>
            <a:r>
              <a:rPr lang="zh-CN" altLang="en-US" sz="2400" dirty="0">
                <a:hlinkClick r:id="rId6"/>
              </a:rPr>
              <a:t>）</a:t>
            </a:r>
            <a:endParaRPr lang="en-US" altLang="zh-CN" sz="2400" dirty="0"/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400" dirty="0"/>
              <a:t>完全背包问题 </a:t>
            </a:r>
            <a:r>
              <a:rPr lang="en-US" altLang="zh-CN" sz="2400" dirty="0"/>
              <a:t>&amp; </a:t>
            </a:r>
            <a:r>
              <a:rPr lang="en-US" altLang="zh-CN" sz="2400" dirty="0">
                <a:hlinkClick r:id="rId7"/>
              </a:rPr>
              <a:t>518. </a:t>
            </a:r>
            <a:r>
              <a:rPr lang="zh-CN" altLang="en-US" sz="2400" dirty="0">
                <a:hlinkClick r:id="rId7"/>
              </a:rPr>
              <a:t>零钱兑换 </a:t>
            </a:r>
            <a:r>
              <a:rPr lang="en-US" altLang="zh-CN" sz="2400" dirty="0">
                <a:hlinkClick r:id="rId7"/>
              </a:rPr>
              <a:t>II - </a:t>
            </a:r>
            <a:r>
              <a:rPr lang="zh-CN" altLang="en-US" sz="2400" dirty="0">
                <a:hlinkClick r:id="rId7"/>
              </a:rPr>
              <a:t>力扣（</a:t>
            </a:r>
            <a:r>
              <a:rPr lang="en-US" altLang="zh-CN" sz="2400" dirty="0" err="1">
                <a:hlinkClick r:id="rId7"/>
              </a:rPr>
              <a:t>LeetCode</a:t>
            </a:r>
            <a:r>
              <a:rPr lang="zh-CN" altLang="en-US" sz="2400" dirty="0">
                <a:hlinkClick r:id="rId7"/>
              </a:rPr>
              <a:t>）</a:t>
            </a:r>
            <a:endParaRPr lang="en-US" altLang="zh-CN" sz="2400" dirty="0"/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</a:rPr>
              <a:t>*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</a:rPr>
              <a:t>分组背包 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</a:rPr>
              <a:t>/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</a:rPr>
              <a:t>多重背包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网格图</a:t>
            </a:r>
            <a:r>
              <a:rPr lang="en-US" altLang="zh-CN" sz="2400" dirty="0" err="1">
                <a:solidFill>
                  <a:schemeClr val="tx1"/>
                </a:solidFill>
              </a:rPr>
              <a:t>dp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rgbClr val="0563C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LCR 166. </a:t>
            </a:r>
            <a:r>
              <a:rPr lang="zh-CN" altLang="en-US" sz="2400" dirty="0">
                <a:solidFill>
                  <a:srgbClr val="0563C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珠宝的最高价值 </a:t>
            </a:r>
            <a:r>
              <a:rPr lang="en-US" altLang="zh-CN" sz="2400" dirty="0">
                <a:solidFill>
                  <a:srgbClr val="0563C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zh-CN" altLang="en-US" sz="2400" dirty="0">
                <a:solidFill>
                  <a:srgbClr val="0563C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力扣（</a:t>
            </a:r>
            <a:r>
              <a:rPr lang="en-US" altLang="zh-CN" sz="2400" dirty="0" err="1">
                <a:solidFill>
                  <a:srgbClr val="0563C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"/>
          </p:nvPr>
        </p:nvSpPr>
        <p:spPr>
          <a:xfrm>
            <a:off x="3096987" y="177800"/>
            <a:ext cx="5257800" cy="812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刷题指南</a:t>
            </a:r>
            <a:endParaRPr lang="en-US" altLang="zh-CN" sz="28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DB507D-65EA-E9EA-0660-2E8FD6BA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14" y="1320730"/>
            <a:ext cx="11455052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</a:pPr>
            <a:r>
              <a:rPr lang="zh-CN" altLang="en-US" sz="2400" dirty="0">
                <a:hlinkClick r:id="rId3"/>
              </a:rPr>
              <a:t>分享丨</a:t>
            </a:r>
            <a:r>
              <a:rPr lang="en-US" altLang="zh-CN" sz="2400" dirty="0">
                <a:hlinkClick r:id="rId3"/>
              </a:rPr>
              <a:t>【</a:t>
            </a:r>
            <a:r>
              <a:rPr lang="zh-CN" altLang="en-US" sz="2400" dirty="0">
                <a:hlinkClick r:id="rId3"/>
              </a:rPr>
              <a:t>题单</a:t>
            </a:r>
            <a:r>
              <a:rPr lang="en-US" altLang="zh-CN" sz="2400" dirty="0">
                <a:hlinkClick r:id="rId3"/>
              </a:rPr>
              <a:t>】</a:t>
            </a:r>
            <a:r>
              <a:rPr lang="zh-CN" altLang="en-US" sz="2400" dirty="0">
                <a:hlinkClick r:id="rId3"/>
              </a:rPr>
              <a:t>动态规划（入门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背包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状态机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划分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区间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状压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数位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树形</a:t>
            </a:r>
            <a:r>
              <a:rPr lang="en-US" altLang="zh-CN" sz="2400" dirty="0">
                <a:hlinkClick r:id="rId3"/>
              </a:rPr>
              <a:t>/</a:t>
            </a:r>
            <a:r>
              <a:rPr lang="zh-CN" altLang="en-US" sz="2400" dirty="0">
                <a:hlinkClick r:id="rId3"/>
              </a:rPr>
              <a:t>数据结构优化）</a:t>
            </a:r>
            <a:r>
              <a:rPr lang="en-US" altLang="zh-CN" sz="2400" dirty="0">
                <a:hlinkClick r:id="rId3"/>
              </a:rPr>
              <a:t>- </a:t>
            </a:r>
            <a:r>
              <a:rPr lang="zh-CN" altLang="en-US" sz="2400" dirty="0">
                <a:hlinkClick r:id="rId3"/>
              </a:rPr>
              <a:t>讨论 </a:t>
            </a:r>
            <a:r>
              <a:rPr lang="en-US" altLang="zh-CN" sz="2400" dirty="0">
                <a:hlinkClick r:id="rId3"/>
              </a:rPr>
              <a:t>- </a:t>
            </a:r>
            <a:r>
              <a:rPr lang="zh-CN" altLang="en-US" sz="2400" dirty="0">
                <a:hlinkClick r:id="rId3"/>
              </a:rPr>
              <a:t>力扣（</a:t>
            </a:r>
            <a:r>
              <a:rPr lang="en-US" altLang="zh-CN" sz="2400" dirty="0" err="1">
                <a:hlinkClick r:id="rId3"/>
              </a:rPr>
              <a:t>LeetCode</a:t>
            </a:r>
            <a:r>
              <a:rPr lang="zh-CN" altLang="en-US" sz="2400" dirty="0">
                <a:hlinkClick r:id="rId3"/>
              </a:rPr>
              <a:t>）</a:t>
            </a:r>
            <a:endParaRPr lang="en-US" altLang="zh-CN" sz="2400" dirty="0"/>
          </a:p>
          <a:p>
            <a:pPr>
              <a:buClrTx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ClrTx/>
            </a:pPr>
            <a:r>
              <a:rPr lang="zh-CN" altLang="en-US" sz="2400" dirty="0"/>
              <a:t>省</a:t>
            </a:r>
            <a:r>
              <a:rPr lang="en-US" altLang="zh-CN" sz="2400" dirty="0"/>
              <a:t>3/2</a:t>
            </a:r>
            <a:r>
              <a:rPr lang="zh-CN" altLang="en-US" sz="2400" dirty="0"/>
              <a:t>：入门</a:t>
            </a:r>
            <a:r>
              <a:rPr lang="en-US" altLang="zh-CN" sz="2400" dirty="0" err="1"/>
              <a:t>dp</a:t>
            </a:r>
            <a:r>
              <a:rPr lang="en-US" altLang="zh-CN" sz="2400" dirty="0"/>
              <a:t> (1700</a:t>
            </a:r>
            <a:r>
              <a:rPr lang="zh-CN" altLang="en-US" sz="2400" dirty="0"/>
              <a:t>以下的题目）</a:t>
            </a:r>
            <a:endParaRPr lang="en-US" altLang="zh-CN" sz="2400" dirty="0"/>
          </a:p>
          <a:p>
            <a:pPr>
              <a:buClrTx/>
            </a:pPr>
            <a:r>
              <a:rPr lang="zh-CN" altLang="en-US" sz="2400" dirty="0"/>
              <a:t>省</a:t>
            </a:r>
            <a:r>
              <a:rPr lang="en-US" altLang="zh-CN" sz="2400" dirty="0"/>
              <a:t>1</a:t>
            </a:r>
            <a:r>
              <a:rPr lang="zh-CN" altLang="en-US" sz="2400" dirty="0"/>
              <a:t>：入门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（</a:t>
            </a:r>
            <a:r>
              <a:rPr lang="en-US" altLang="zh-CN" sz="2400" dirty="0"/>
              <a:t>1800</a:t>
            </a:r>
            <a:r>
              <a:rPr lang="zh-CN" altLang="en-US" sz="2400" dirty="0"/>
              <a:t>以下的题目）</a:t>
            </a:r>
            <a:r>
              <a:rPr lang="en-US" altLang="zh-CN" sz="2400" dirty="0"/>
              <a:t>+ </a:t>
            </a:r>
            <a:r>
              <a:rPr lang="zh-CN" altLang="en-US" sz="2400" dirty="0"/>
              <a:t>网格图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（</a:t>
            </a:r>
            <a:r>
              <a:rPr lang="en-US" altLang="zh-CN" sz="2400" dirty="0"/>
              <a:t>1800</a:t>
            </a:r>
            <a:r>
              <a:rPr lang="zh-CN" altLang="en-US" sz="2400" dirty="0"/>
              <a:t>以下）</a:t>
            </a:r>
            <a:r>
              <a:rPr lang="en-US" altLang="zh-CN" sz="2400" dirty="0"/>
              <a:t>+ </a:t>
            </a:r>
            <a:r>
              <a:rPr lang="zh-CN" altLang="en-US" sz="2400" dirty="0"/>
              <a:t>背包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（</a:t>
            </a:r>
            <a:r>
              <a:rPr lang="en-US" altLang="zh-CN" sz="2400" dirty="0"/>
              <a:t>0-1</a:t>
            </a:r>
            <a:r>
              <a:rPr lang="zh-CN" altLang="en-US" sz="2400" dirty="0"/>
              <a:t>背包，完全背包，</a:t>
            </a:r>
            <a:r>
              <a:rPr lang="en-US" altLang="zh-CN" sz="2400" dirty="0"/>
              <a:t>1800</a:t>
            </a:r>
            <a:r>
              <a:rPr lang="zh-CN" altLang="en-US" sz="2400" dirty="0"/>
              <a:t>以下）</a:t>
            </a:r>
            <a:r>
              <a:rPr lang="en-US" altLang="zh-CN" sz="2400" dirty="0"/>
              <a:t>+ </a:t>
            </a:r>
            <a:r>
              <a:rPr lang="zh-CN" altLang="en-US" sz="2400" dirty="0"/>
              <a:t>经典线性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（</a:t>
            </a:r>
            <a:r>
              <a:rPr lang="en-US" altLang="zh-CN" sz="2400" dirty="0"/>
              <a:t>1800</a:t>
            </a:r>
            <a:r>
              <a:rPr lang="zh-CN" altLang="en-US" sz="2400" dirty="0"/>
              <a:t>以下）</a:t>
            </a:r>
            <a:endParaRPr lang="en-US" altLang="zh-CN" sz="2400" dirty="0"/>
          </a:p>
          <a:p>
            <a:pPr>
              <a:buClrTx/>
            </a:pPr>
            <a:r>
              <a:rPr lang="zh-CN" altLang="en-US" sz="2400" dirty="0"/>
              <a:t>国</a:t>
            </a:r>
            <a:r>
              <a:rPr lang="en-US" altLang="zh-CN" sz="2400" dirty="0"/>
              <a:t>3/2</a:t>
            </a:r>
            <a:r>
              <a:rPr lang="zh-CN" altLang="en-US" sz="2400" dirty="0"/>
              <a:t>：省</a:t>
            </a:r>
            <a:r>
              <a:rPr lang="en-US" altLang="zh-CN" sz="2400" dirty="0"/>
              <a:t>1</a:t>
            </a:r>
            <a:r>
              <a:rPr lang="zh-CN" altLang="en-US" sz="2400" dirty="0"/>
              <a:t>所有</a:t>
            </a:r>
            <a:r>
              <a:rPr lang="en-US" altLang="zh-CN" sz="2400" dirty="0" err="1"/>
              <a:t>dp</a:t>
            </a:r>
            <a:r>
              <a:rPr lang="en-US" altLang="zh-CN" sz="2400" dirty="0"/>
              <a:t> 1800~2100</a:t>
            </a:r>
            <a:r>
              <a:rPr lang="zh-CN" altLang="en-US" sz="2400" dirty="0"/>
              <a:t>的题目，划分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、区间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、状压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、树形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（</a:t>
            </a:r>
            <a:r>
              <a:rPr lang="en-US" altLang="zh-CN" sz="2400" dirty="0"/>
              <a:t>1900</a:t>
            </a:r>
            <a:r>
              <a:rPr lang="zh-CN" altLang="en-US" sz="2400" dirty="0"/>
              <a:t>以下题目）</a:t>
            </a:r>
            <a:endParaRPr lang="en-US" altLang="zh-CN" sz="2400" dirty="0"/>
          </a:p>
          <a:p>
            <a:pPr>
              <a:buClrTx/>
            </a:pPr>
            <a:r>
              <a:rPr lang="zh-CN" altLang="en-US" sz="2400" dirty="0"/>
              <a:t>国</a:t>
            </a:r>
            <a:r>
              <a:rPr lang="en-US" altLang="zh-CN" sz="2400" dirty="0"/>
              <a:t>1</a:t>
            </a:r>
            <a:r>
              <a:rPr lang="zh-CN" altLang="en-US" sz="2400" dirty="0"/>
              <a:t>：所有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里</a:t>
            </a:r>
            <a:r>
              <a:rPr lang="en-US" altLang="zh-CN" sz="2400" dirty="0"/>
              <a:t>2300</a:t>
            </a:r>
            <a:r>
              <a:rPr lang="zh-CN" altLang="en-US" sz="2400" dirty="0"/>
              <a:t>以下的题目</a:t>
            </a:r>
            <a:endParaRPr lang="en-US" altLang="zh-CN" sz="2400" dirty="0"/>
          </a:p>
          <a:p>
            <a:pPr>
              <a:buClrTx/>
            </a:pPr>
            <a:r>
              <a:rPr lang="en-US" altLang="zh-CN" sz="2400" dirty="0"/>
              <a:t>ACM</a:t>
            </a:r>
            <a:r>
              <a:rPr lang="zh-CN" altLang="en-US" sz="2400" dirty="0"/>
              <a:t>区域单挑银：所有</a:t>
            </a:r>
            <a:endParaRPr lang="en-US" altLang="zh-CN" sz="2400" dirty="0"/>
          </a:p>
          <a:p>
            <a:pPr>
              <a:buClrTx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B5D5-750C-40C2-9A4C-1FF2B778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F8A76D5-3115-B746-783B-5E805E568A03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800" b="1" dirty="0"/>
              <a:t>爬楼梯 </a:t>
            </a:r>
            <a:r>
              <a:rPr lang="en-US" altLang="zh-CN" sz="3600" b="1" dirty="0">
                <a:hlinkClick r:id="rId3"/>
              </a:rPr>
              <a:t>70. </a:t>
            </a:r>
            <a:r>
              <a:rPr lang="zh-CN" altLang="en-US" sz="3600" b="1" dirty="0">
                <a:hlinkClick r:id="rId3"/>
              </a:rPr>
              <a:t>爬楼梯 </a:t>
            </a:r>
            <a:r>
              <a:rPr lang="en-US" altLang="zh-CN" sz="3600" b="1" dirty="0">
                <a:hlinkClick r:id="rId3"/>
              </a:rPr>
              <a:t>- </a:t>
            </a:r>
            <a:r>
              <a:rPr lang="zh-CN" altLang="en-US" sz="3600" b="1" dirty="0">
                <a:hlinkClick r:id="rId3"/>
              </a:rPr>
              <a:t>力扣（</a:t>
            </a:r>
            <a:r>
              <a:rPr lang="en-US" altLang="zh-CN" sz="3600" b="1" dirty="0" err="1">
                <a:hlinkClick r:id="rId3"/>
              </a:rPr>
              <a:t>LeetCode</a:t>
            </a:r>
            <a:r>
              <a:rPr lang="zh-CN" altLang="en-US" sz="36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9D4E68-4027-B603-8BB7-CEC18FC21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093" y="924369"/>
            <a:ext cx="7504732" cy="579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5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4339-F8FA-12E0-A8A5-1CE2C164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8C08C1-6998-5898-49A8-E44FE5958796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0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000" b="1" dirty="0"/>
              <a:t>爬楼梯 </a:t>
            </a:r>
            <a:r>
              <a:rPr lang="en-US" altLang="zh-CN" sz="2800" b="1" dirty="0">
                <a:hlinkClick r:id="rId3"/>
              </a:rPr>
              <a:t>70. </a:t>
            </a:r>
            <a:r>
              <a:rPr lang="zh-CN" altLang="en-US" sz="2800" b="1" dirty="0">
                <a:hlinkClick r:id="rId3"/>
              </a:rPr>
              <a:t>爬楼梯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25922B-ED31-E42F-A3ED-20FC3265F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1217"/>
            <a:ext cx="12192000" cy="441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2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023D-42AB-8608-9F8C-47D01DC2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2B59D39-6E66-4E55-8C27-1680952B552A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0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000" b="1" dirty="0"/>
              <a:t>爬楼梯 </a:t>
            </a:r>
            <a:r>
              <a:rPr lang="en-US" altLang="zh-CN" sz="2800" b="1" dirty="0">
                <a:hlinkClick r:id="rId3"/>
              </a:rPr>
              <a:t>70. </a:t>
            </a:r>
            <a:r>
              <a:rPr lang="zh-CN" altLang="en-US" sz="2800" b="1" dirty="0">
                <a:hlinkClick r:id="rId3"/>
              </a:rPr>
              <a:t>爬楼梯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A0C875-FC78-5257-63ED-1E0651B10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0099"/>
            <a:ext cx="12192000" cy="46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4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0CF5-A191-8614-13F5-7B4E732C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5B5AF5-390A-8DFE-6C33-25DB3ECCBC7E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0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000" b="1" dirty="0"/>
              <a:t>爬楼梯 </a:t>
            </a:r>
            <a:r>
              <a:rPr lang="en-US" altLang="zh-CN" sz="2800" b="1" dirty="0">
                <a:hlinkClick r:id="rId3"/>
              </a:rPr>
              <a:t>70. </a:t>
            </a:r>
            <a:r>
              <a:rPr lang="zh-CN" altLang="en-US" sz="2800" b="1" dirty="0">
                <a:hlinkClick r:id="rId3"/>
              </a:rPr>
              <a:t>爬楼梯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1505E1-AB14-5C29-AD7F-0B68FEF56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7364"/>
            <a:ext cx="12548007" cy="1940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9A7F47-097B-A331-7FD9-B32A16449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28837"/>
            <a:ext cx="12192000" cy="30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5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5A86-4934-7897-B9C5-8E4A55FD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E3094A-53C2-277F-294A-C769E2AF89DC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0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0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000" b="1" dirty="0"/>
              <a:t>爬楼梯 </a:t>
            </a:r>
            <a:r>
              <a:rPr lang="en-US" altLang="zh-CN" sz="2800" b="1" dirty="0">
                <a:hlinkClick r:id="rId3"/>
              </a:rPr>
              <a:t>70. </a:t>
            </a:r>
            <a:r>
              <a:rPr lang="zh-CN" altLang="en-US" sz="2800" b="1" dirty="0">
                <a:hlinkClick r:id="rId3"/>
              </a:rPr>
              <a:t>爬楼梯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393032-48CB-45D5-E69C-B37C27753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279" y="851145"/>
            <a:ext cx="8171145" cy="21289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4353AF3-51BC-877B-0160-B45C45646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53201"/>
            <a:ext cx="12192000" cy="33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6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202AF-D046-1DA7-D351-7A3319F5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C06551-93F8-144C-BE8E-037D3A4E9CF2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2800" b="1" dirty="0">
                <a:hlinkClick r:id="rId3"/>
              </a:rPr>
              <a:t>198. </a:t>
            </a:r>
            <a:r>
              <a:rPr lang="zh-CN" altLang="en-US" sz="2800" b="1" dirty="0">
                <a:hlinkClick r:id="rId3"/>
              </a:rPr>
              <a:t>打家劫舍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>
              <a:solidFill>
                <a:srgbClr val="1F2329"/>
              </a:solidFill>
              <a:ea typeface="Noto Sans SC"/>
              <a:cs typeface="Noto Sans SC"/>
              <a:sym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C8B32-ABDD-6953-6E88-8E50C694F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059" y="933552"/>
            <a:ext cx="6681153" cy="592444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2584050-13EB-E0DE-F656-79CFD14AD281}"/>
              </a:ext>
            </a:extLst>
          </p:cNvPr>
          <p:cNvSpPr txBox="1"/>
          <p:nvPr/>
        </p:nvSpPr>
        <p:spPr>
          <a:xfrm>
            <a:off x="482253" y="5999967"/>
            <a:ext cx="3381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1, 99, 1, 1, 99, 1, 99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79274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C912-ACD5-B0FA-3F62-9E352349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42A957C-48F0-2B4E-5B0F-B5B783052362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2800" b="1" dirty="0">
                <a:hlinkClick r:id="rId3"/>
              </a:rPr>
              <a:t>198. </a:t>
            </a:r>
            <a:r>
              <a:rPr lang="zh-CN" altLang="en-US" sz="2800" b="1" dirty="0">
                <a:hlinkClick r:id="rId3"/>
              </a:rPr>
              <a:t>打家劫舍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>
              <a:solidFill>
                <a:srgbClr val="1F2329"/>
              </a:solidFill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1EA39D-B966-AB17-7399-79F5C9E953C1}"/>
              </a:ext>
            </a:extLst>
          </p:cNvPr>
          <p:cNvSpPr txBox="1"/>
          <p:nvPr/>
        </p:nvSpPr>
        <p:spPr>
          <a:xfrm>
            <a:off x="4215009" y="1283918"/>
            <a:ext cx="3381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1, 99, 1, 1, 99, 1, 99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03813F-FBAC-074D-4DDB-BBDC0517B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181225"/>
            <a:ext cx="92964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3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8000-98C1-7CDB-4986-47AB70A2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E57687C-EF2C-D9DA-7DA9-E0A2CEF4808B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入门</a:t>
            </a: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2800" b="1" dirty="0">
                <a:hlinkClick r:id="rId3"/>
              </a:rPr>
              <a:t>198. </a:t>
            </a:r>
            <a:r>
              <a:rPr lang="zh-CN" altLang="en-US" sz="2800" b="1" dirty="0">
                <a:hlinkClick r:id="rId3"/>
              </a:rPr>
              <a:t>打家劫舍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>
              <a:solidFill>
                <a:srgbClr val="1F2329"/>
              </a:solidFill>
              <a:ea typeface="Noto Sans SC"/>
              <a:cs typeface="Noto Sans SC"/>
              <a:sym typeface="Noto Sans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A075C5-1AE6-F986-B879-D20195CB4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516" y="843680"/>
            <a:ext cx="7026319" cy="21242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6951F40-8D15-1A37-6754-A6250A15E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550" y="2974933"/>
            <a:ext cx="10540707" cy="353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03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75E7-334B-75EB-F4F4-F75C6DD3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0244121-A129-0A88-FD77-EACB0707E4BD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背包</a:t>
            </a:r>
            <a:r>
              <a:rPr lang="en-US" altLang="zh-CN" sz="2800" b="1" dirty="0" err="1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dp</a:t>
            </a:r>
            <a:r>
              <a:rPr lang="zh-CN" altLang="en-US" sz="2800" b="1" dirty="0">
                <a:solidFill>
                  <a:srgbClr val="1F2329"/>
                </a:solidFill>
                <a:ea typeface="Noto Sans SC"/>
                <a:cs typeface="Noto Sans SC"/>
                <a:sym typeface="Noto Sans SC"/>
              </a:rPr>
              <a:t>问题总览</a:t>
            </a:r>
            <a:endParaRPr lang="en-US" altLang="zh-CN" sz="28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E23DB0-032A-476D-851E-21737FD0B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899"/>
            <a:ext cx="12192000" cy="352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10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EA49-84F8-E993-55C3-208D49B6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21CA5C-4EBA-3C6F-9DB1-695002687980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0-1</a:t>
            </a:r>
            <a:r>
              <a:rPr lang="zh-CN" alt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背包问题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4DB903-3DF3-1524-94AA-98B47213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830" y="387350"/>
            <a:ext cx="9386170" cy="8462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2B4AD4-7F41-4583-FDFE-B1582B9D5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95" y="1461135"/>
            <a:ext cx="11066746" cy="48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92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95BC-CB9D-ACE3-7372-D9B03D7F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4EDC7D6-BAC1-7CF2-6672-7F505999E4D4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0-1</a:t>
            </a:r>
            <a:r>
              <a:rPr lang="zh-CN" alt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背包问题</a:t>
            </a:r>
            <a:endParaRPr lang="en-US" altLang="zh-CN" sz="28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96861D-D899-C5C9-9B30-2CAFF364D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4" y="1540005"/>
            <a:ext cx="8542712" cy="37371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F2D47B-1AEC-15E8-C34E-332DDDFD5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150" y="765305"/>
            <a:ext cx="6601112" cy="339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14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C9B3-46D7-B15B-2500-26ECF904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9F234E4-BE62-C536-9DDD-B36E2632FD11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0-1</a:t>
            </a:r>
            <a:r>
              <a:rPr lang="zh-CN" alt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背包问题</a:t>
            </a:r>
            <a:endParaRPr lang="en-US" altLang="zh-CN" sz="28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9207EC-7AC4-8F15-395C-933A8462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76" y="2308274"/>
            <a:ext cx="10976975" cy="40134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0FEBB4-2E23-B13D-DB6B-5E3B8E29B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085" y="157792"/>
            <a:ext cx="3331832" cy="171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64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27F3-17B7-186F-98F2-7C340098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A2897F-7ECE-0D81-9526-01A1DD26C4B1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*</a:t>
            </a:r>
            <a:r>
              <a:rPr lang="zh-CN" altLang="en-US" sz="2800" b="1" dirty="0"/>
              <a:t>（了解）滚动数组优化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E77584-55F8-4643-0783-459BCF25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1" y="1145143"/>
            <a:ext cx="10532301" cy="534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16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74D03-7B64-8C77-A718-95E78844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6978612-B10C-5F37-E1F4-B1C12DBD40B1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>
                <a:hlinkClick r:id="rId3"/>
              </a:rPr>
              <a:t>P1048 [NOIP 2005 </a:t>
            </a:r>
            <a:r>
              <a:rPr lang="zh-CN" altLang="en-US" sz="2800" b="1" dirty="0">
                <a:hlinkClick r:id="rId3"/>
              </a:rPr>
              <a:t>普及组</a:t>
            </a:r>
            <a:r>
              <a:rPr lang="en-US" altLang="zh-CN" sz="2800" b="1" dirty="0">
                <a:hlinkClick r:id="rId3"/>
              </a:rPr>
              <a:t>] </a:t>
            </a:r>
            <a:r>
              <a:rPr lang="zh-CN" altLang="en-US" sz="2800" b="1" dirty="0">
                <a:hlinkClick r:id="rId3"/>
              </a:rPr>
              <a:t>采药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洛谷 </a:t>
            </a:r>
            <a:r>
              <a:rPr lang="en-US" altLang="zh-CN" sz="2800" b="1" dirty="0">
                <a:hlinkClick r:id="rId3"/>
              </a:rPr>
              <a:t>(luogu.com.cn)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5DFD3B-27D0-EDDE-0E51-57A28F937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795337"/>
            <a:ext cx="116586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21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BDBCB-EBD4-98A0-08FA-7807E547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20A9F70-6525-06AC-A0BD-E952A1804678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>
                <a:hlinkClick r:id="rId3"/>
              </a:rPr>
              <a:t>P1048 [NOIP 2005 </a:t>
            </a:r>
            <a:r>
              <a:rPr lang="zh-CN" altLang="en-US" sz="2800" b="1" dirty="0">
                <a:hlinkClick r:id="rId3"/>
              </a:rPr>
              <a:t>普及组</a:t>
            </a:r>
            <a:r>
              <a:rPr lang="en-US" altLang="zh-CN" sz="2800" b="1" dirty="0">
                <a:hlinkClick r:id="rId3"/>
              </a:rPr>
              <a:t>] </a:t>
            </a:r>
            <a:r>
              <a:rPr lang="zh-CN" altLang="en-US" sz="2800" b="1" dirty="0">
                <a:hlinkClick r:id="rId3"/>
              </a:rPr>
              <a:t>采药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洛谷 </a:t>
            </a:r>
            <a:r>
              <a:rPr lang="en-US" altLang="zh-CN" sz="2800" b="1" dirty="0">
                <a:hlinkClick r:id="rId3"/>
              </a:rPr>
              <a:t>(luogu.com.cn)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8557CD-D063-9549-435B-C94C41B27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325" y="868558"/>
            <a:ext cx="9205447" cy="598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1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3A560-3E11-8B9B-8DAA-85A160A8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235C333-F9E0-19DB-43C3-A2BFB19F326F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补充</a:t>
            </a:r>
            <a:r>
              <a:rPr lang="en-US" altLang="zh-CN" sz="2000" b="1" dirty="0"/>
              <a:t>】</a:t>
            </a:r>
            <a:r>
              <a:rPr lang="en-US" altLang="zh-CN" sz="2800" dirty="0">
                <a:hlinkClick r:id="rId3"/>
              </a:rPr>
              <a:t>LC2431. </a:t>
            </a:r>
            <a:r>
              <a:rPr lang="zh-CN" altLang="en-US" sz="2800" dirty="0">
                <a:hlinkClick r:id="rId3"/>
              </a:rPr>
              <a:t>最大限度地提高购买水果的口味 </a:t>
            </a:r>
            <a:r>
              <a:rPr lang="en-US" altLang="zh-CN" sz="2800" dirty="0">
                <a:hlinkClick r:id="rId3"/>
              </a:rPr>
              <a:t>- </a:t>
            </a:r>
            <a:r>
              <a:rPr lang="zh-CN" altLang="en-US" sz="2800" dirty="0">
                <a:hlinkClick r:id="rId3"/>
              </a:rPr>
              <a:t>题目详情 </a:t>
            </a:r>
            <a:r>
              <a:rPr lang="en-US" altLang="zh-CN" sz="2800" dirty="0">
                <a:hlinkClick r:id="rId3"/>
              </a:rPr>
              <a:t>- </a:t>
            </a:r>
            <a:r>
              <a:rPr lang="en-US" altLang="zh-CN" sz="2800" dirty="0" err="1">
                <a:hlinkClick r:id="rId3"/>
              </a:rPr>
              <a:t>HydroOJ</a:t>
            </a:r>
            <a:endParaRPr lang="en-US" altLang="zh-CN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9FA2E1-7870-C4EF-2CDB-C42CC8E04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508" y="1021374"/>
            <a:ext cx="7264984" cy="557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37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D398-D42C-7551-A330-B6EDB278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69CD53-0B1B-C8DB-ECF5-6F37123A352D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补充</a:t>
            </a:r>
            <a:r>
              <a:rPr lang="en-US" altLang="zh-CN" sz="2000" b="1" dirty="0"/>
              <a:t>】</a:t>
            </a:r>
            <a:r>
              <a:rPr lang="en-US" altLang="zh-CN" sz="2800" dirty="0">
                <a:hlinkClick r:id="rId3"/>
              </a:rPr>
              <a:t>LC2431. </a:t>
            </a:r>
            <a:r>
              <a:rPr lang="zh-CN" altLang="en-US" sz="2800" dirty="0">
                <a:hlinkClick r:id="rId3"/>
              </a:rPr>
              <a:t>最大限度地提高购买水果的口味 </a:t>
            </a:r>
            <a:r>
              <a:rPr lang="en-US" altLang="zh-CN" sz="2800" dirty="0">
                <a:hlinkClick r:id="rId3"/>
              </a:rPr>
              <a:t>- </a:t>
            </a:r>
            <a:r>
              <a:rPr lang="zh-CN" altLang="en-US" sz="2800" dirty="0">
                <a:hlinkClick r:id="rId3"/>
              </a:rPr>
              <a:t>题目详情 </a:t>
            </a:r>
            <a:r>
              <a:rPr lang="en-US" altLang="zh-CN" sz="2800" dirty="0">
                <a:hlinkClick r:id="rId3"/>
              </a:rPr>
              <a:t>- </a:t>
            </a:r>
            <a:r>
              <a:rPr lang="en-US" altLang="zh-CN" sz="2800" dirty="0" err="1">
                <a:hlinkClick r:id="rId3"/>
              </a:rPr>
              <a:t>HydroOJ</a:t>
            </a:r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D67447-0CEE-E9FA-FCAB-32A79D89D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80" y="1092935"/>
            <a:ext cx="10538564" cy="54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9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7621-F783-F68F-190B-026A6B8C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B357FC2-01F7-25E5-9D10-E925709EAE78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/>
              <a:t>恰好装满型 </a:t>
            </a:r>
            <a:r>
              <a:rPr lang="en-US" altLang="zh-CN" sz="2800" b="1" dirty="0"/>
              <a:t>0 - 1 </a:t>
            </a:r>
            <a:r>
              <a:rPr lang="zh-CN" altLang="en-US" sz="2800" b="1" dirty="0"/>
              <a:t>背包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9CC1B7-ED2D-FAA1-8692-6DEF5B67F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" y="3177495"/>
            <a:ext cx="12192000" cy="76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92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C2CE-F816-FCB7-E862-2E7A0CBA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7817B34-0330-BB07-71C7-46BFDB3F181A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>
                <a:hlinkClick r:id="rId3"/>
              </a:rPr>
              <a:t>2915. </a:t>
            </a:r>
            <a:r>
              <a:rPr lang="zh-CN" altLang="en-US" sz="2800" b="1" dirty="0">
                <a:hlinkClick r:id="rId3"/>
              </a:rPr>
              <a:t>和为目标值的最长子序列的长度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CFCA61-7F31-0E14-5D7D-91CC714CB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579" y="1018714"/>
            <a:ext cx="9836841" cy="56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59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AD1E-C190-20A2-39CB-85FE1799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2B04466-58C8-F9DE-8B35-EC6882999554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>
                <a:hlinkClick r:id="rId3"/>
              </a:rPr>
              <a:t>2915. </a:t>
            </a:r>
            <a:r>
              <a:rPr lang="zh-CN" altLang="en-US" sz="2800" b="1" dirty="0">
                <a:hlinkClick r:id="rId3"/>
              </a:rPr>
              <a:t>和为目标值的最长子序列的长度 </a:t>
            </a:r>
            <a:r>
              <a:rPr lang="en-US" altLang="zh-CN" sz="2800" b="1" dirty="0">
                <a:hlinkClick r:id="rId3"/>
              </a:rPr>
              <a:t>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60D31D-2813-2E91-B287-443CDFDB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809" y="1013306"/>
            <a:ext cx="9746938" cy="579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22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571C-00C3-EEED-DAE1-D9ED0CB0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8228C0-264A-92DD-136D-744C38F26E80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补充</a:t>
            </a:r>
            <a:r>
              <a:rPr lang="en-US" altLang="zh-CN" sz="2400" b="1" dirty="0"/>
              <a:t>】</a:t>
            </a:r>
            <a:r>
              <a:rPr lang="en-US" altLang="zh-CN" sz="4000" dirty="0">
                <a:hlinkClick r:id="rId3"/>
              </a:rPr>
              <a:t>1.</a:t>
            </a:r>
            <a:r>
              <a:rPr lang="zh-CN" altLang="en-US" sz="4000" dirty="0">
                <a:hlinkClick r:id="rId3"/>
              </a:rPr>
              <a:t>蓝桥课程抢购 </a:t>
            </a:r>
            <a:r>
              <a:rPr lang="en-US" altLang="zh-CN" sz="4000" dirty="0">
                <a:hlinkClick r:id="rId3"/>
              </a:rPr>
              <a:t>- </a:t>
            </a:r>
            <a:r>
              <a:rPr lang="zh-CN" altLang="en-US" sz="4000" dirty="0">
                <a:hlinkClick r:id="rId3"/>
              </a:rPr>
              <a:t>蓝桥云课 </a:t>
            </a:r>
            <a:r>
              <a:rPr lang="en-US" altLang="zh-CN" sz="4000" dirty="0">
                <a:hlinkClick r:id="rId3"/>
              </a:rPr>
              <a:t>(lanqiao.cn)</a:t>
            </a:r>
            <a:endParaRPr lang="en-US" altLang="zh-CN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C5EDCC-C1CB-540B-D42D-A7C2BD722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76244"/>
            <a:ext cx="12192000" cy="290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40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3BB4-46AD-8BF5-67B9-205E5CAC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EEE757-AE61-A7AF-A0AE-E55EDC226099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补充</a:t>
            </a:r>
            <a:r>
              <a:rPr lang="en-US" altLang="zh-CN" sz="2400" b="1" dirty="0"/>
              <a:t>】</a:t>
            </a:r>
            <a:r>
              <a:rPr lang="en-US" altLang="zh-CN" sz="4000" dirty="0">
                <a:hlinkClick r:id="rId3"/>
              </a:rPr>
              <a:t>1.</a:t>
            </a:r>
            <a:r>
              <a:rPr lang="zh-CN" altLang="en-US" sz="4000" dirty="0">
                <a:hlinkClick r:id="rId3"/>
              </a:rPr>
              <a:t>蓝桥课程抢购 </a:t>
            </a:r>
            <a:r>
              <a:rPr lang="en-US" altLang="zh-CN" sz="4000" dirty="0">
                <a:hlinkClick r:id="rId3"/>
              </a:rPr>
              <a:t>- </a:t>
            </a:r>
            <a:r>
              <a:rPr lang="zh-CN" altLang="en-US" sz="4000" dirty="0">
                <a:hlinkClick r:id="rId3"/>
              </a:rPr>
              <a:t>蓝桥云课 </a:t>
            </a:r>
            <a:r>
              <a:rPr lang="en-US" altLang="zh-CN" sz="4000" dirty="0">
                <a:hlinkClick r:id="rId3"/>
              </a:rPr>
              <a:t>(lanqiao.cn)</a:t>
            </a: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BEE9DA-60B4-311F-F1B9-858375686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302" y="970997"/>
            <a:ext cx="7205063" cy="58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2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CADB-3E3D-E500-A1A9-A5655055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D9434F1-890D-3B9D-3E51-229183985026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完全背包问题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8E2228-9E84-FECF-C228-3CDD1263A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700"/>
            <a:ext cx="12192000" cy="531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03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1D67-BD5C-2C2D-D56E-A0FB8D15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490B5B2-7445-1F49-A4B7-6B84BBF9A532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完全背包问题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613982-315C-1256-805E-D83875AC2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5423"/>
            <a:ext cx="12192000" cy="59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94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EF082-8804-0510-CD31-8F212C5A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4C2ABA-BD66-3AD5-B769-76BBA83AA3F5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>
                <a:hlinkClick r:id="rId3"/>
              </a:rPr>
              <a:t>518. </a:t>
            </a:r>
            <a:r>
              <a:rPr lang="zh-CN" altLang="en-US" sz="2800" b="1" dirty="0">
                <a:hlinkClick r:id="rId3"/>
              </a:rPr>
              <a:t>零钱兑换 </a:t>
            </a:r>
            <a:r>
              <a:rPr lang="en-US" altLang="zh-CN" sz="2800" b="1" dirty="0">
                <a:hlinkClick r:id="rId3"/>
              </a:rPr>
              <a:t>II 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3663C3-1941-33D2-A0AA-0ECA568E7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1" y="832658"/>
            <a:ext cx="12192000" cy="57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21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50609-6942-3442-9F62-1C1C89EF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A09A0E1-B0FE-E4C3-1C2B-A20F1B52ED24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>
                <a:hlinkClick r:id="rId3"/>
              </a:rPr>
              <a:t>518. </a:t>
            </a:r>
            <a:r>
              <a:rPr lang="zh-CN" altLang="en-US" sz="2800" b="1" dirty="0">
                <a:hlinkClick r:id="rId3"/>
              </a:rPr>
              <a:t>零钱兑换 </a:t>
            </a:r>
            <a:r>
              <a:rPr lang="en-US" altLang="zh-CN" sz="2800" b="1" dirty="0">
                <a:hlinkClick r:id="rId3"/>
              </a:rPr>
              <a:t>II 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F4BA3E-CAB7-CF49-AD61-900A3C1B3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4826"/>
            <a:ext cx="12192000" cy="294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44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D8CE-4A07-54BF-751F-303D51CE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68EB13-24AA-8E77-1551-76717D3716F2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>
                <a:hlinkClick r:id="rId3"/>
              </a:rPr>
              <a:t>518. </a:t>
            </a:r>
            <a:r>
              <a:rPr lang="zh-CN" altLang="en-US" sz="2800" b="1" dirty="0">
                <a:hlinkClick r:id="rId3"/>
              </a:rPr>
              <a:t>零钱兑换 </a:t>
            </a:r>
            <a:r>
              <a:rPr lang="en-US" altLang="zh-CN" sz="2800" b="1" dirty="0">
                <a:hlinkClick r:id="rId3"/>
              </a:rPr>
              <a:t>II - </a:t>
            </a:r>
            <a:r>
              <a:rPr lang="zh-CN" altLang="en-US" sz="2800" b="1" dirty="0">
                <a:hlinkClick r:id="rId3"/>
              </a:rPr>
              <a:t>力扣（</a:t>
            </a:r>
            <a:r>
              <a:rPr lang="en-US" altLang="zh-CN" sz="2800" b="1" dirty="0" err="1">
                <a:hlinkClick r:id="rId3"/>
              </a:rPr>
              <a:t>LeetCode</a:t>
            </a:r>
            <a:r>
              <a:rPr lang="zh-CN" altLang="en-US" sz="2800" b="1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68B20A-E1AC-ECCE-15C7-4D680E2E1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11" y="843890"/>
            <a:ext cx="10369463" cy="583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68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E96D-E83F-F89F-35CE-5F074B7E5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A4CC45-CB01-7714-7BB0-C2F41BC49971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*</a:t>
            </a:r>
            <a:r>
              <a:rPr lang="zh-CN" altLang="en-US" sz="2800" b="1" dirty="0"/>
              <a:t>（了解）多重背包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E560ED-A023-8DAA-C716-80315169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9147"/>
            <a:ext cx="12192000" cy="543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42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7F85-A9CC-CB4F-D757-750DC576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D7F526-A23B-D096-2296-5BFA78AEACAB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*</a:t>
            </a:r>
            <a:r>
              <a:rPr lang="zh-CN" altLang="en-US" sz="2800" b="1" dirty="0"/>
              <a:t>（了解）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3465BE-5921-0026-0CE4-181408B6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433" y="637022"/>
            <a:ext cx="9255166" cy="62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2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9187-0A82-5A51-DA4D-24915F6A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1039D2-1B5B-465E-1044-DA4F2E03F240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*</a:t>
            </a:r>
            <a:r>
              <a:rPr lang="zh-CN" altLang="en-US" sz="2800" b="1" dirty="0"/>
              <a:t>（了解）分组背包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805F0C-54D3-1199-8D94-681B27992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003" y="748550"/>
            <a:ext cx="8955218" cy="61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50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C4FD-FEDE-76ED-11FB-147FD30C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BFBB389-A962-8635-21E7-384932CCFF11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/>
              <a:t>网格图</a:t>
            </a:r>
            <a:r>
              <a:rPr lang="en-US" altLang="zh-CN" sz="2800" b="1" dirty="0" err="1"/>
              <a:t>dp</a:t>
            </a:r>
            <a:r>
              <a:rPr lang="en-US" altLang="zh-CN" sz="2800" b="1" dirty="0"/>
              <a:t> </a:t>
            </a:r>
            <a:r>
              <a:rPr lang="en-US" altLang="zh-CN" sz="3600" dirty="0">
                <a:hlinkClick r:id="rId3"/>
              </a:rPr>
              <a:t>LCR 166. </a:t>
            </a:r>
            <a:r>
              <a:rPr lang="zh-CN" altLang="en-US" sz="3600" dirty="0">
                <a:hlinkClick r:id="rId3"/>
              </a:rPr>
              <a:t>珠宝的最高价值 </a:t>
            </a:r>
            <a:r>
              <a:rPr lang="en-US" altLang="zh-CN" sz="3600" dirty="0">
                <a:hlinkClick r:id="rId3"/>
              </a:rPr>
              <a:t>- </a:t>
            </a:r>
            <a:r>
              <a:rPr lang="zh-CN" altLang="en-US" sz="3600" dirty="0">
                <a:hlinkClick r:id="rId3"/>
              </a:rPr>
              <a:t>力扣（</a:t>
            </a:r>
            <a:r>
              <a:rPr lang="en-US" altLang="zh-CN" sz="3600" dirty="0" err="1">
                <a:hlinkClick r:id="rId3"/>
              </a:rPr>
              <a:t>LeetCode</a:t>
            </a:r>
            <a:r>
              <a:rPr lang="zh-CN" altLang="en-US" sz="3600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E9C092-1166-18F0-4999-F34ECD10A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210" y="1103505"/>
            <a:ext cx="8946063" cy="575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18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0379E-4795-7CF2-B64A-A83E8D69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BBFBCF6-696C-0589-E8C0-D3274816CC60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/>
              <a:t>网格图</a:t>
            </a:r>
            <a:r>
              <a:rPr lang="en-US" altLang="zh-CN" sz="2800" b="1" dirty="0" err="1"/>
              <a:t>dp</a:t>
            </a:r>
            <a:r>
              <a:rPr lang="en-US" altLang="zh-CN" sz="2800" b="1" dirty="0"/>
              <a:t> </a:t>
            </a:r>
            <a:r>
              <a:rPr lang="en-US" altLang="zh-CN" sz="3600" dirty="0">
                <a:hlinkClick r:id="rId3"/>
              </a:rPr>
              <a:t>LCR 166. </a:t>
            </a:r>
            <a:r>
              <a:rPr lang="zh-CN" altLang="en-US" sz="3600" dirty="0">
                <a:hlinkClick r:id="rId3"/>
              </a:rPr>
              <a:t>珠宝的最高价值 </a:t>
            </a:r>
            <a:r>
              <a:rPr lang="en-US" altLang="zh-CN" sz="3600" dirty="0">
                <a:hlinkClick r:id="rId3"/>
              </a:rPr>
              <a:t>- </a:t>
            </a:r>
            <a:r>
              <a:rPr lang="zh-CN" altLang="en-US" sz="3600" dirty="0">
                <a:hlinkClick r:id="rId3"/>
              </a:rPr>
              <a:t>力扣（</a:t>
            </a:r>
            <a:r>
              <a:rPr lang="en-US" altLang="zh-CN" sz="3600" dirty="0" err="1">
                <a:hlinkClick r:id="rId3"/>
              </a:rPr>
              <a:t>LeetCode</a:t>
            </a:r>
            <a:r>
              <a:rPr lang="zh-CN" altLang="en-US" sz="3600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3D0BF0-6D43-A55E-1832-BD526B09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4" y="852514"/>
            <a:ext cx="12192000" cy="51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38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BCD7-DC43-3170-D9FB-6D6171AA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E1F8DDE-3A7E-A93C-F480-D31DAF14BD64}"/>
              </a:ext>
            </a:extLst>
          </p:cNvPr>
          <p:cNvSpPr/>
          <p:nvPr/>
        </p:nvSpPr>
        <p:spPr>
          <a:xfrm>
            <a:off x="139929" y="0"/>
            <a:ext cx="12386646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/>
              <a:t>*【</a:t>
            </a:r>
            <a:r>
              <a:rPr lang="zh-CN" altLang="en-US" sz="2800" b="1" dirty="0"/>
              <a:t>补充</a:t>
            </a:r>
            <a:r>
              <a:rPr lang="en-US" altLang="zh-CN" sz="2800" b="1" dirty="0"/>
              <a:t>】</a:t>
            </a:r>
            <a:r>
              <a:rPr lang="en-US" altLang="zh-CN" sz="3600" dirty="0">
                <a:hlinkClick r:id="rId3"/>
              </a:rPr>
              <a:t>64. </a:t>
            </a:r>
            <a:r>
              <a:rPr lang="zh-CN" altLang="en-US" sz="3600" dirty="0">
                <a:hlinkClick r:id="rId3"/>
              </a:rPr>
              <a:t>最小路径和 </a:t>
            </a:r>
            <a:r>
              <a:rPr lang="en-US" altLang="zh-CN" sz="3600" dirty="0">
                <a:hlinkClick r:id="rId3"/>
              </a:rPr>
              <a:t>- </a:t>
            </a:r>
            <a:r>
              <a:rPr lang="zh-CN" altLang="en-US" sz="3600" dirty="0">
                <a:hlinkClick r:id="rId3"/>
              </a:rPr>
              <a:t>力扣（</a:t>
            </a:r>
            <a:r>
              <a:rPr lang="en-US" altLang="zh-CN" sz="3600" dirty="0" err="1">
                <a:hlinkClick r:id="rId3"/>
              </a:rPr>
              <a:t>LeetCode</a:t>
            </a:r>
            <a:r>
              <a:rPr lang="zh-CN" altLang="en-US" sz="3600" dirty="0">
                <a:hlinkClick r:id="rId3"/>
              </a:rPr>
              <a:t>）</a:t>
            </a:r>
            <a:endParaRPr lang="en-US" altLang="zh-CN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8E6AD-52D9-E4D7-C491-AF36D39BF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0566"/>
            <a:ext cx="12192000" cy="42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15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771</Words>
  <Application>Microsoft Office PowerPoint</Application>
  <PresentationFormat>宽屏</PresentationFormat>
  <Paragraphs>135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Noto Sans SC</vt:lpstr>
      <vt:lpstr>Arial</vt:lpstr>
      <vt:lpstr>Office 主题​​</vt:lpstr>
      <vt:lpstr>默认主题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TsingPig</dc:creator>
  <cp:lastModifiedBy>正阳 朱</cp:lastModifiedBy>
  <cp:revision>250</cp:revision>
  <dcterms:modified xsi:type="dcterms:W3CDTF">2025-03-14T11:50:55Z</dcterms:modified>
</cp:coreProperties>
</file>